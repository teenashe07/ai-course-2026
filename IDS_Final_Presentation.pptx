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0" r:id="rId14"/>
    <p:sldId id="301" r:id="rId15"/>
    <p:sldId id="302" r:id="rId16"/>
    <p:sldId id="30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5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Deep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 (IDS)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874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by: </a:t>
            </a:r>
            <a:r>
              <a:rPr lang="en-US" sz="1300" i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Tinashe Chibamu</a:t>
            </a:r>
            <a:endParaRPr lang="en-US" sz="1300" i="1" dirty="0">
              <a:solidFill>
                <a:srgbClr val="90C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-How AI learns to catch network attacks — including ones no one has seen before-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201168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(Supervised)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2514600"/>
            <a:ext cx="201168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(Supervised)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514600"/>
            <a:ext cx="201168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(Supervised)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2514600"/>
            <a:ext cx="201168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(Autoencoder)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Final Project  |  TensorFlow/Keras  |  Python 3.11  |  CICFlowMeter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IDS — And Why Does AI Change Everything?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97764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Traditional IDS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security guard with a wanted poster album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detects attacks it has seen before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2311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attacks walk straight through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7980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packets — impossible for humans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3649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missed attack = full compromise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06240" cy="39776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AI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guard who knows what NORMAL looks like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664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real data automatically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22311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known attacks with 100% accuracy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7980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brand-new attacks it has never seen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33649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24/7 — no human needed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The Complete 5-Stage Pipeline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645920" cy="397764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886968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86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6184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2084832"/>
            <a:ext cx="1508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traffic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(133MB PCAP)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47088" y="25146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56816" y="777240"/>
            <a:ext cx="1645920" cy="3977640"/>
          </a:xfrm>
          <a:prstGeom prst="rect">
            <a:avLst/>
          </a:prstGeom>
          <a:solidFill>
            <a:srgbClr val="E0F2F1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9736" y="886968"/>
            <a:ext cx="640080" cy="64008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736" y="886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48256" y="16184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29968" y="2084832"/>
            <a:ext cx="1508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CICFlowMeter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84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flow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output)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21024" y="25146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30752" y="777240"/>
            <a:ext cx="1645920" cy="3977640"/>
          </a:xfrm>
          <a:prstGeom prst="rect">
            <a:avLst/>
          </a:prstGeom>
          <a:solidFill>
            <a:srgbClr val="EDE7F6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33672" y="886968"/>
            <a:ext cx="640080" cy="64008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33672" y="886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22192" y="16184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03904" y="2084832"/>
            <a:ext cx="1508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nulls,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infinities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393 flows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25146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04688" y="777240"/>
            <a:ext cx="1645920" cy="39776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07608" y="886968"/>
            <a:ext cx="640080" cy="6400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886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96128" y="16184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2084832"/>
            <a:ext cx="1508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AI models: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NN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(TensorFlow)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68896" y="25146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78624" y="777240"/>
            <a:ext cx="1645920" cy="397764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81544" y="886968"/>
            <a:ext cx="640080" cy="6400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81544" y="886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70064" y="16184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51776" y="2084832"/>
            <a:ext cx="1508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1.00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attacks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1: EDA — How Benign and Attack Flows Look Different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13232"/>
            <a:ext cx="530352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749808"/>
            <a:ext cx="3291840" cy="1051560"/>
          </a:xfrm>
          <a:prstGeom prst="rect">
            <a:avLst/>
          </a:prstGeom>
          <a:solidFill>
            <a:srgbClr val="FFEBEE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79008" y="8138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Packets/s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79008" y="1097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flows (red) spread far to the right — much higher packet rates. Normal browsing is slow. Attacks flood the network.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0" y="1911096"/>
            <a:ext cx="3291840" cy="105156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79008" y="19751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Flag Count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79008" y="22585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traffic (blue) clusters near zero. Attacks show very high SYN counts — the signature of a SYN-flood DDoS attack.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3072384"/>
            <a:ext cx="329184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79008" y="3136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per Packet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79008" y="341985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engineered feature separates them well — attacks send tiny packets (probing), benign traffic sends large data packets.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82880" y="4005072"/>
            <a:ext cx="8778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04164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What this means: The model CAN learn to separate benign from attack — these features have clearly different distributions. Blue clusters = normal. Red spread wide = attack. The model learns this boundary.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2: Supervised Model — Training Curves (How It Learned)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13232"/>
            <a:ext cx="566928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749808"/>
            <a:ext cx="2971800" cy="25146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08192" y="822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these: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08192" y="118872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(left): </a:t>
            </a: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DOWN as the model improves. Train (blue) drops fast. Val (orange) follows. Good — no overfitting.
</a:t>
            </a: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(middle): </a:t>
            </a: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UP toward 1.0. Validation hits near-perfect fast.
</a:t>
            </a: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(right): </a:t>
            </a: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UP toward 1.0. Measures how well it separates classes — 1.0 is perfect.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2880" y="3383280"/>
            <a:ext cx="8778240" cy="148132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34472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What this means: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3794760"/>
            <a:ext cx="8458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converged at epoch 13 out of 80 — </a:t>
            </a:r>
            <a:r>
              <a:rPr lang="en-US" sz="10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triggered because it had already learned everything it could. This is GOOD — it means the model didn't overfit (memorise) the training data. The fact that Train and Validation curves stay close together confirms the model generalises to new flows it hasn't seen before.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3: Confusion Matrix — Did the Model Make Any Mistakes?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49808"/>
            <a:ext cx="41148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749808"/>
            <a:ext cx="420624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9204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confusion matrix?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92040" y="117043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showing every prediction the model made. Rows = what the flow ACTUALLY was. Columns = what the model PREDICTED. Perfect model = numbers only on the diagonal (top-left to bottom-right).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2514600"/>
            <a:ext cx="20116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28032" y="2560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40680" y="2569464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correctly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Benign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28032" y="3081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alarms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3730752"/>
            <a:ext cx="201168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28032" y="3776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440680" y="3785616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called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28032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03720" y="2514600"/>
            <a:ext cx="2011680" cy="1005840"/>
          </a:xfrm>
          <a:prstGeom prst="rect">
            <a:avLst/>
          </a:prstGeom>
          <a:solidFill>
            <a:srgbClr val="FFEBEE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76872" y="2560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589520" y="2569464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missed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(called Benign)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976872" y="3081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attack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03720" y="3730752"/>
            <a:ext cx="201168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76872" y="3776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7589520" y="3785616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correctly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Attack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976872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4: Autoencoder — Detecting Attacks It Has Never Seen Before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13232"/>
            <a:ext cx="886968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" y="3547872"/>
            <a:ext cx="4297680" cy="1325880"/>
          </a:xfrm>
          <a:prstGeom prst="rect">
            <a:avLst/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56032" y="3593592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graph: Reconstruction Error Distribution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" y="3950208"/>
            <a:ext cx="405993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(Benign): </a:t>
            </a: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near zero — the autoencoder reconstructs normal flows well.
</a:t>
            </a: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(Attack): </a:t>
            </a: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to the right — high error because the autoencoder cannot reconstruct attack patterns.
</a:t>
            </a: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line: </a:t>
            </a: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(0.009643). Everything RIGHT of it is flagged as an anomaly.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3440" y="3547872"/>
            <a:ext cx="4297680" cy="1325880"/>
          </a:xfrm>
          <a:prstGeom prst="rect">
            <a:avLst/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82312" y="3593592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graph: Autoencoder Training Loss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82312" y="3950208"/>
            <a:ext cx="405993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go DOWN smoothly over 80 epochs — the model kept learning until the end (Early Stopping did not trigger).
</a:t>
            </a: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 stay close together </a:t>
            </a: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overfitting. The autoencoder genuinely learned what 'normal' looks like, not just memorised the training data.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5: ROC Curves — How Well Do Both Models Discriminate?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45720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749808"/>
            <a:ext cx="402336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74920" y="822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ROC curve?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74920" y="1170432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plots two things as you change the detection threshold:
</a:t>
            </a: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</a:t>
            </a: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(false alarms)
</a:t>
            </a: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</a:t>
            </a: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 (attacks caught)
AUC = Area Under the Curve. AUC of 1.0 = perfect. AUC of 0.5 = random guessing.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0" y="2724912"/>
            <a:ext cx="402336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7492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Supervised (AUC = 1.000)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74920" y="31272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line shoots straight to the top-left corner — perfect. It catches 100% of attacks before generating ANY false alarms.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37760" y="3822192"/>
            <a:ext cx="4023360" cy="100584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74920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Autoencoder (AUC = 0.887)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74920" y="42245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line rises steeply — strong performance. It needs ~20% FP rate to catch 100% of attacks. Still far above the dashed random line.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Results — Both Models Exceeded Every Target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9776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503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Supervised Dense NN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test flows — 55 Benign, 24 Attack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81912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276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874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4520" y="17465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0.90 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31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5786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74520" y="2450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0.88 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90088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358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32826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0.92 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694176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7398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39867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4520" y="3858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missed attacks 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777240"/>
            <a:ext cx="4206240" cy="3977640"/>
          </a:xfrm>
          <a:prstGeom prst="rect">
            <a:avLst/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8503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Autoencoder IDS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 flows evaluated — 273 Benign, 120 Attack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581912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1874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0" y="17465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28600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31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(attacks)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2578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583680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120 attacks caught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990088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0358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capable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9472" y="32826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8368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labelled attacks needed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694176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7398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39867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583680" y="3858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0.1667 → 1.00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— Why This Matters to a Real Company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5196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869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of a Breach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data breach costs $4.5M. Our system catches 100% of attacks — every attack stopped is millions of rands saved.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777240"/>
            <a:ext cx="4251960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B2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8869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24/7 Automatic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325880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every network flow continuously. No human analyst can watch millions of packets per day — AI can.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251960" cy="1828800"/>
          </a:xfrm>
          <a:prstGeom prst="rect">
            <a:avLst/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9443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Zero-Day Protection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Autoencoder detects brand-new attacks never seen before. Traditional IDS cannot do this. AUC-ROC: 0.8868.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834640"/>
            <a:ext cx="425196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9443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Alert Fatigue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alerts: supervised model (precision 1.00) for urgent alerts. Autoencoder (precision 0.64) for secondary review.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Challenges — What Actually Went Wrong &amp; How We Fixed It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749808"/>
            <a:ext cx="411480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Python 3.14 installed — TensorFlow refused to install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34840" y="9509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56048" y="82296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Installed Python 3.11 in parallel; configured launcher to use correct version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411480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618488"/>
            <a:ext cx="411480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9164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CICFlowMeter couldn't run — tcpdump dependency missing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18196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56048" y="169164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Located Windows-compatible tcpdump binary, added to PATH — CICFlowMeter ran successfully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411480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487168"/>
            <a:ext cx="411480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6032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PCAP file had restricted permissions — 'Access is denied'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26883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56048" y="256032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Used takeown + icacls to grant read permissions; also copied file to Documents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55848"/>
            <a:ext cx="411480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355848"/>
            <a:ext cx="411480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2900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CSV was completely empty — EmptyDataError on load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355701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56048" y="342900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Capture was too short — redid with 5+ mins of active browsing (YouTube, websites)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24528"/>
            <a:ext cx="411480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4224528"/>
            <a:ext cx="411480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29768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Autoencoder recall only 0.1667 at initial threshold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442569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56048" y="429768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Tuned threshold from 95th to 75th percentile — recall jumped from 0.1667 to 1.00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41248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Every target met or exceeded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1.00, Recall 1.00, AUC-ROC 1.0000 — all above every proposal target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38528"/>
            <a:ext cx="841248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025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Two layers of defence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36829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 catches known attacks. Autoencoder catches the ones no one has seen before.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916936"/>
            <a:ext cx="841248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809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Built on real data, real problems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34670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17MB real PCAP, 6 real engineering challenges overcome — not a theoretical exercise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895344"/>
            <a:ext cx="841248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593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business case is clear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3251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detection rate pays for itself on day one.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nical Success at a Glanc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Technical Success at a Glance</a:t>
            </a:r>
            <a:endParaRPr lang="en-US" sz="1800" dirty="0"/>
          </a:p>
        </p:txBody>
      </p:sp>
      <p:sp>
        <p:nvSpPr>
          <p:cNvPr id="12" name="Card12"/>
          <p:cNvSpPr/>
          <p:nvPr/>
        </p:nvSpPr>
        <p:spPr>
          <a:xfrm>
            <a:off x="91440" y="700000"/>
            <a:ext cx="2743200" cy="17000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3" name="BigNum12"/>
          <p:cNvSpPr/>
          <p:nvPr/>
        </p:nvSpPr>
        <p:spPr>
          <a:xfrm>
            <a:off x="182880" y="809728"/>
            <a:ext cx="25603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8B0"/>
                </a:solidFill>
                <a:latin typeface="Calibri" pitchFamily="34" charset="0"/>
              </a:rPr>
              <a:t>1.00</a:t>
            </a:r>
            <a:endParaRPr lang="en-US" sz="3600" dirty="0"/>
          </a:p>
        </p:txBody>
      </p:sp>
      <p:sp>
        <p:nvSpPr>
          <p:cNvPr id="14" name="Label12"/>
          <p:cNvSpPr/>
          <p:nvPr/>
        </p:nvSpPr>
        <p:spPr>
          <a:xfrm>
            <a:off x="182880" y="1400000"/>
            <a:ext cx="256032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</a:rPr>
              <a:t>ACCURACY — SUPERVISED NN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</a:rPr>
              <a:t>Every flow correctly classified</a:t>
            </a:r>
            <a:endParaRPr lang="en-US" sz="1000" dirty="0"/>
          </a:p>
        </p:txBody>
      </p:sp>
      <p:sp>
        <p:nvSpPr>
          <p:cNvPr id="15" name="Card15"/>
          <p:cNvSpPr/>
          <p:nvPr/>
        </p:nvSpPr>
        <p:spPr>
          <a:xfrm>
            <a:off x="2926080" y="700000"/>
            <a:ext cx="2743200" cy="17000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6" name="BigNum15"/>
          <p:cNvSpPr/>
          <p:nvPr/>
        </p:nvSpPr>
        <p:spPr>
          <a:xfrm>
            <a:off x="3017520" y="809728"/>
            <a:ext cx="25603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8B0"/>
                </a:solidFill>
                <a:latin typeface="Calibri" pitchFamily="34" charset="0"/>
              </a:rPr>
              <a:t>1.0000</a:t>
            </a:r>
            <a:endParaRPr lang="en-US" sz="3600" dirty="0"/>
          </a:p>
        </p:txBody>
      </p:sp>
      <p:sp>
        <p:nvSpPr>
          <p:cNvPr id="17" name="Label15"/>
          <p:cNvSpPr/>
          <p:nvPr/>
        </p:nvSpPr>
        <p:spPr>
          <a:xfrm>
            <a:off x="3017520" y="1400000"/>
            <a:ext cx="256032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</a:rPr>
              <a:t>AUC-ROC — SUPERVISED NN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</a:rPr>
              <a:t>Perfect class separation</a:t>
            </a:r>
            <a:endParaRPr lang="en-US" sz="1000" dirty="0"/>
          </a:p>
        </p:txBody>
      </p:sp>
      <p:sp>
        <p:nvSpPr>
          <p:cNvPr id="18" name="Card18"/>
          <p:cNvSpPr/>
          <p:nvPr/>
        </p:nvSpPr>
        <p:spPr>
          <a:xfrm>
            <a:off x="5760720" y="700000"/>
            <a:ext cx="2743200" cy="17000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9" name="BigNum18"/>
          <p:cNvSpPr/>
          <p:nvPr/>
        </p:nvSpPr>
        <p:spPr>
          <a:xfrm>
            <a:off x="5852160" y="809728"/>
            <a:ext cx="25603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8B0"/>
                </a:solidFill>
                <a:latin typeface="Calibri" pitchFamily="34" charset="0"/>
              </a:rPr>
              <a:t>1.00</a:t>
            </a:r>
            <a:endParaRPr lang="en-US" sz="3600" dirty="0"/>
          </a:p>
        </p:txBody>
      </p:sp>
      <p:sp>
        <p:nvSpPr>
          <p:cNvPr id="20" name="Label18"/>
          <p:cNvSpPr/>
          <p:nvPr/>
        </p:nvSpPr>
        <p:spPr>
          <a:xfrm>
            <a:off x="5852160" y="1400000"/>
            <a:ext cx="256032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</a:rPr>
              <a:t>RECALL — BOTH MODELS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</a:rPr>
              <a:t>Zero attacks missed</a:t>
            </a:r>
            <a:endParaRPr lang="en-US" sz="1000" dirty="0"/>
          </a:p>
        </p:txBody>
      </p:sp>
      <p:sp>
        <p:nvSpPr>
          <p:cNvPr id="21" name="Card21"/>
          <p:cNvSpPr/>
          <p:nvPr/>
        </p:nvSpPr>
        <p:spPr>
          <a:xfrm>
            <a:off x="91440" y="2550000"/>
            <a:ext cx="2743200" cy="1700000"/>
          </a:xfrm>
          <a:prstGeom prst="rect">
            <a:avLst/>
          </a:prstGeom>
          <a:solidFill>
            <a:srgbClr val="0A1628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2" name="BigNum21"/>
          <p:cNvSpPr/>
          <p:nvPr/>
        </p:nvSpPr>
        <p:spPr>
          <a:xfrm>
            <a:off x="182880" y="2659728"/>
            <a:ext cx="25603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0CAF9"/>
                </a:solidFill>
                <a:latin typeface="Calibri" pitchFamily="34" charset="0"/>
              </a:rPr>
              <a:t>0.8894</a:t>
            </a:r>
            <a:endParaRPr lang="en-US" sz="3600" dirty="0"/>
          </a:p>
        </p:txBody>
      </p:sp>
      <p:sp>
        <p:nvSpPr>
          <p:cNvPr id="23" name="Label21"/>
          <p:cNvSpPr/>
          <p:nvPr/>
        </p:nvSpPr>
        <p:spPr>
          <a:xfrm>
            <a:off x="182880" y="3250000"/>
            <a:ext cx="256032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</a:rPr>
              <a:t>AUC-ROC — AUTOENCODER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</a:rPr>
              <a:t>Strong zero-day discrimination</a:t>
            </a:r>
            <a:endParaRPr lang="en-US" sz="1000" dirty="0"/>
          </a:p>
        </p:txBody>
      </p:sp>
      <p:sp>
        <p:nvSpPr>
          <p:cNvPr id="24" name="Card24"/>
          <p:cNvSpPr/>
          <p:nvPr/>
        </p:nvSpPr>
        <p:spPr>
          <a:xfrm>
            <a:off x="2926080" y="2550000"/>
            <a:ext cx="2743200" cy="1700000"/>
          </a:xfrm>
          <a:prstGeom prst="rect">
            <a:avLst/>
          </a:prstGeom>
          <a:solidFill>
            <a:srgbClr val="0A1628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5" name="BigNum24"/>
          <p:cNvSpPr/>
          <p:nvPr/>
        </p:nvSpPr>
        <p:spPr>
          <a:xfrm>
            <a:off x="3017520" y="2659728"/>
            <a:ext cx="25603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F9A9A"/>
                </a:solidFill>
                <a:latin typeface="Calibri" pitchFamily="34" charset="0"/>
              </a:rPr>
              <a:t>0%</a:t>
            </a:r>
            <a:endParaRPr lang="en-US" sz="3600" dirty="0"/>
          </a:p>
        </p:txBody>
      </p:sp>
      <p:sp>
        <p:nvSpPr>
          <p:cNvPr id="26" name="Label24"/>
          <p:cNvSpPr/>
          <p:nvPr/>
        </p:nvSpPr>
        <p:spPr>
          <a:xfrm>
            <a:off x="3017520" y="3250000"/>
            <a:ext cx="256032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</a:rPr>
              <a:t>MISSED ATTACKS (BOTH)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</a:rPr>
              <a:t>100% attack coverage</a:t>
            </a:r>
            <a:endParaRPr lang="en-US" sz="1000" dirty="0"/>
          </a:p>
        </p:txBody>
      </p:sp>
      <p:sp>
        <p:nvSpPr>
          <p:cNvPr id="27" name="Card27"/>
          <p:cNvSpPr/>
          <p:nvPr/>
        </p:nvSpPr>
        <p:spPr>
          <a:xfrm>
            <a:off x="5760720" y="2550000"/>
            <a:ext cx="2743200" cy="1700000"/>
          </a:xfrm>
          <a:prstGeom prst="rect">
            <a:avLst/>
          </a:prstGeom>
          <a:solidFill>
            <a:srgbClr val="0A1628"/>
          </a:solidFill>
          <a:ln w="19050">
            <a:solidFill>
              <a:srgbClr val="6A1E6E"/>
            </a:solidFill>
            <a:prstDash val="solid"/>
          </a:ln>
        </p:spPr>
      </p:sp>
      <p:sp>
        <p:nvSpPr>
          <p:cNvPr id="28" name="BigNum27"/>
          <p:cNvSpPr/>
          <p:nvPr/>
        </p:nvSpPr>
        <p:spPr>
          <a:xfrm>
            <a:off x="5852160" y="2659728"/>
            <a:ext cx="25603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E93D8"/>
                </a:solidFill>
                <a:latin typeface="Calibri" pitchFamily="34" charset="0"/>
              </a:rPr>
              <a:t>13</a:t>
            </a:r>
            <a:endParaRPr lang="en-US" sz="3600" dirty="0"/>
          </a:p>
        </p:txBody>
      </p:sp>
      <p:sp>
        <p:nvSpPr>
          <p:cNvPr id="29" name="Label27"/>
          <p:cNvSpPr/>
          <p:nvPr/>
        </p:nvSpPr>
        <p:spPr>
          <a:xfrm>
            <a:off x="5852160" y="3250000"/>
            <a:ext cx="256032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</a:rPr>
              <a:t>TRAINING EPOCHS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</a:rPr>
              <a:t>Early Stopping — no overfitting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ual-Model Architecture Value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Dual-Model Architecture — Why Two Models Beat One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274320" y="730000"/>
            <a:ext cx="4160000" cy="28000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11480" y="839728"/>
            <a:ext cx="396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</a:rPr>
              <a:t>🧠  Supervised Dense NN — Tier 1 Alerts</a:t>
            </a:r>
            <a:endParaRPr lang="en-US" sz="1300" dirty="0"/>
          </a:p>
        </p:txBody>
      </p:sp>
      <p:sp>
        <p:nvSpPr>
          <p:cNvPr id="10" name="Body 6"/>
          <p:cNvSpPr/>
          <p:nvPr/>
        </p:nvSpPr>
        <p:spPr>
          <a:xfrm>
            <a:off x="411480" y="1315000"/>
            <a:ext cx="3960000" cy="21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Accuracy: 1.00  |  Precision: 1.00  |  F1: 1.00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Handles known attacks with perfect precision.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Every alert it raises is a real attack.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Zero false alarms — no wasted analyst time.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Ideal for: immediate automated response,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SIEM high-priority queue, on-call escalation.</a:t>
            </a:r>
            <a:endParaRPr lang="en-US" sz="1100" dirty="0"/>
          </a:p>
        </p:txBody>
      </p:sp>
      <p:sp>
        <p:nvSpPr>
          <p:cNvPr id="4" name="Shape 6"/>
          <p:cNvSpPr/>
          <p:nvPr/>
        </p:nvSpPr>
        <p:spPr>
          <a:xfrm>
            <a:off x="4617920" y="730000"/>
            <a:ext cx="4160000" cy="2800000"/>
          </a:xfrm>
          <a:prstGeom prst="rect">
            <a:avLst/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755080" y="839728"/>
            <a:ext cx="396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</a:rPr>
              <a:t>🔍  Autoencoder IDS — Tier 2 Anomalies</a:t>
            </a:r>
            <a:endParaRPr lang="en-US" sz="1300" dirty="0"/>
          </a:p>
        </p:txBody>
      </p:sp>
      <p:sp>
        <p:nvSpPr>
          <p:cNvPr id="12" name="Body 8"/>
          <p:cNvSpPr/>
          <p:nvPr/>
        </p:nvSpPr>
        <p:spPr>
          <a:xfrm>
            <a:off x="4755080" y="1315000"/>
            <a:ext cx="3960000" cy="21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Recall: 1.00  |  AUC-ROC: 0.8894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Detects attacks it has NEVER seen before.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No labelled attack data required for training.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Catches every attack including zero-days.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Ideal for: threat hunting, unknown malware,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new attack patterns, secondary SOC queue.</a:t>
            </a:r>
            <a:endParaRPr lang="en-US" sz="1100" dirty="0"/>
          </a:p>
        </p:txBody>
      </p:sp>
      <p:sp>
        <p:nvSpPr>
          <p:cNvPr id="5" name="Shape 8"/>
          <p:cNvSpPr/>
          <p:nvPr/>
        </p:nvSpPr>
        <p:spPr>
          <a:xfrm>
            <a:off x="274320" y="3713599"/>
            <a:ext cx="8503600" cy="1325059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11480" y="3823328"/>
            <a:ext cx="83036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</a:rPr>
              <a:t>🔗  Together: Complete Defence Coverage</a:t>
            </a:r>
            <a:endParaRPr lang="en-US" sz="1300" dirty="0"/>
          </a:p>
        </p:txBody>
      </p:sp>
      <p:sp>
        <p:nvSpPr>
          <p:cNvPr id="14" name="Body 10"/>
          <p:cNvSpPr/>
          <p:nvPr/>
        </p:nvSpPr>
        <p:spPr>
          <a:xfrm>
            <a:off x="411480" y="4298600"/>
            <a:ext cx="8303600" cy="4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Tier 1 (NN) handles known threats instantly with zero false alarms.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Tier 2 (AE) catches novel threats the NN has never trained 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Result: 100% attack recall across ALL threat types — known and unknown.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</a:rPr>
              <a:t>No single model achieves this alone. The combination is greater than the sum of its parts.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siness Value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Business Value — The Full Case</a:t>
            </a:r>
            <a:endParaRPr lang="en-US" sz="1800" dirty="0"/>
          </a:p>
        </p:txBody>
      </p:sp>
      <p:sp>
        <p:nvSpPr>
          <p:cNvPr id="112" name="Card112"/>
          <p:cNvSpPr/>
          <p:nvPr/>
        </p:nvSpPr>
        <p:spPr>
          <a:xfrm>
            <a:off x="274320" y="730000"/>
            <a:ext cx="2743200" cy="14800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3" name="Head113"/>
          <p:cNvSpPr/>
          <p:nvPr/>
        </p:nvSpPr>
        <p:spPr>
          <a:xfrm>
            <a:off x="394320" y="830000"/>
            <a:ext cx="25432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💰  Financial Risk Eliminated</a:t>
            </a:r>
            <a:endParaRPr lang="en-US" sz="1200" dirty="0"/>
          </a:p>
        </p:txBody>
      </p:sp>
      <p:sp>
        <p:nvSpPr>
          <p:cNvPr id="114" name="Body114"/>
          <p:cNvSpPr/>
          <p:nvPr/>
        </p:nvSpPr>
        <p:spPr>
          <a:xfrm>
            <a:off x="394320" y="1260000"/>
            <a:ext cx="2543200" cy="7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Average breach: $4.5M (IBM 2024).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100% detection = maximum financial protection.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ROI positive from day one of deployment.</a:t>
            </a:r>
            <a:endParaRPr lang="en-US" sz="900" dirty="0"/>
          </a:p>
        </p:txBody>
      </p:sp>
      <p:sp>
        <p:nvSpPr>
          <p:cNvPr id="115" name="Card115"/>
          <p:cNvSpPr/>
          <p:nvPr/>
        </p:nvSpPr>
        <p:spPr>
          <a:xfrm>
            <a:off x="3108960" y="730000"/>
            <a:ext cx="2743200" cy="14800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B2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6" name="Head116"/>
          <p:cNvSpPr/>
          <p:nvPr/>
        </p:nvSpPr>
        <p:spPr>
          <a:xfrm>
            <a:off x="3228960" y="830000"/>
            <a:ext cx="25432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⚡  Operational Efficiency</a:t>
            </a:r>
            <a:endParaRPr lang="en-US" sz="1200" dirty="0"/>
          </a:p>
        </p:txBody>
      </p:sp>
      <p:sp>
        <p:nvSpPr>
          <p:cNvPr id="117" name="Body117"/>
          <p:cNvSpPr/>
          <p:nvPr/>
        </p:nvSpPr>
        <p:spPr>
          <a:xfrm>
            <a:off x="3228960" y="1260000"/>
            <a:ext cx="2543200" cy="7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Analyses flows in milliseconds at scale.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Replaces manual packet inspection entirely.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Frees analysts for high-value investigation.</a:t>
            </a:r>
            <a:endParaRPr lang="en-US" sz="900" dirty="0"/>
          </a:p>
        </p:txBody>
      </p:sp>
      <p:sp>
        <p:nvSpPr>
          <p:cNvPr id="118" name="Card118"/>
          <p:cNvSpPr/>
          <p:nvPr/>
        </p:nvSpPr>
        <p:spPr>
          <a:xfrm>
            <a:off x="5943600" y="730000"/>
            <a:ext cx="2743200" cy="148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9" name="Head119"/>
          <p:cNvSpPr/>
          <p:nvPr/>
        </p:nvSpPr>
        <p:spPr>
          <a:xfrm>
            <a:off x="6063600" y="830000"/>
            <a:ext cx="25432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🛡️  Regulatory Compliance</a:t>
            </a:r>
            <a:endParaRPr lang="en-US" sz="1200" dirty="0"/>
          </a:p>
        </p:txBody>
      </p:sp>
      <p:sp>
        <p:nvSpPr>
          <p:cNvPr id="120" name="Body120"/>
          <p:cNvSpPr/>
          <p:nvPr/>
        </p:nvSpPr>
        <p:spPr>
          <a:xfrm>
            <a:off x="6063600" y="1260000"/>
            <a:ext cx="2543200" cy="7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GDPR, POPIA, ISO 27001 require breach detection.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Audit-ready: full flow logs + confidence scores.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Human-in-the-loop before automated response.</a:t>
            </a:r>
            <a:endParaRPr lang="en-US" sz="900" dirty="0"/>
          </a:p>
        </p:txBody>
      </p:sp>
      <p:sp>
        <p:nvSpPr>
          <p:cNvPr id="121" name="Card121"/>
          <p:cNvSpPr/>
          <p:nvPr/>
        </p:nvSpPr>
        <p:spPr>
          <a:xfrm>
            <a:off x="274320" y="2301440"/>
            <a:ext cx="2743200" cy="1480000"/>
          </a:xfrm>
          <a:prstGeom prst="rect">
            <a:avLst/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2" name="Head122"/>
          <p:cNvSpPr/>
          <p:nvPr/>
        </p:nvSpPr>
        <p:spPr>
          <a:xfrm>
            <a:off x="394320" y="2271440"/>
            <a:ext cx="25432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🌐  Zero-Day Threat Coverage</a:t>
            </a:r>
            <a:endParaRPr lang="en-US" sz="1200" dirty="0"/>
          </a:p>
        </p:txBody>
      </p:sp>
      <p:sp>
        <p:nvSpPr>
          <p:cNvPr id="123" name="Body123"/>
          <p:cNvSpPr/>
          <p:nvPr/>
        </p:nvSpPr>
        <p:spPr>
          <a:xfrm>
            <a:off x="394320" y="2701440"/>
            <a:ext cx="2543200" cy="7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Autoencoder needs NO labelled attack data.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Detects brand-new attack patterns on day one.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Traditional IDS cannot do this — ever.</a:t>
            </a:r>
            <a:endParaRPr lang="en-US" sz="900" dirty="0"/>
          </a:p>
        </p:txBody>
      </p:sp>
      <p:sp>
        <p:nvSpPr>
          <p:cNvPr id="124" name="Card124"/>
          <p:cNvSpPr/>
          <p:nvPr/>
        </p:nvSpPr>
        <p:spPr>
          <a:xfrm>
            <a:off x="3108960" y="2301440"/>
            <a:ext cx="2743200" cy="14800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5" name="Head125"/>
          <p:cNvSpPr/>
          <p:nvPr/>
        </p:nvSpPr>
        <p:spPr>
          <a:xfrm>
            <a:off x="3228960" y="2271440"/>
            <a:ext cx="25432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📊  Analyst Productivity</a:t>
            </a:r>
            <a:endParaRPr lang="en-US" sz="1200" dirty="0"/>
          </a:p>
        </p:txBody>
      </p:sp>
      <p:sp>
        <p:nvSpPr>
          <p:cNvPr id="126" name="Body126"/>
          <p:cNvSpPr/>
          <p:nvPr/>
        </p:nvSpPr>
        <p:spPr>
          <a:xfrm>
            <a:off x="3228960" y="2701440"/>
            <a:ext cx="2543200" cy="7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Tiered alerts prevent alert fatigue.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NN precision 1.00: only real attacks in Tier 1.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AE secondary queue for threat hunting only.</a:t>
            </a:r>
            <a:endParaRPr lang="en-US" sz="900" dirty="0"/>
          </a:p>
        </p:txBody>
      </p:sp>
      <p:sp>
        <p:nvSpPr>
          <p:cNvPr id="127" name="Card127"/>
          <p:cNvSpPr/>
          <p:nvPr/>
        </p:nvSpPr>
        <p:spPr>
          <a:xfrm>
            <a:off x="5943600" y="2301440"/>
            <a:ext cx="2743200" cy="148000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8" name="Head128"/>
          <p:cNvSpPr/>
          <p:nvPr/>
        </p:nvSpPr>
        <p:spPr>
          <a:xfrm>
            <a:off x="6063600" y="2271440"/>
            <a:ext cx="25432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🚀  Deployment Path</a:t>
            </a:r>
            <a:endParaRPr lang="en-US" sz="1200" dirty="0"/>
          </a:p>
        </p:txBody>
      </p:sp>
      <p:sp>
        <p:nvSpPr>
          <p:cNvPr id="129" name="Body129"/>
          <p:cNvSpPr/>
          <p:nvPr/>
        </p:nvSpPr>
        <p:spPr>
          <a:xfrm>
            <a:off x="6063600" y="2701440"/>
            <a:ext cx="2543200" cy="7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Integrate outputs into Splunk / ELK / QRadar.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Retrain monthly on fresh traffic captures.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Federated learning for multi-site organisations.</a:t>
            </a:r>
            <a:endParaRPr lang="en-US" sz="900" dirty="0"/>
          </a:p>
        </p:txBody>
      </p:sp>
      <p:sp>
        <p:nvSpPr>
          <p:cNvPr id="130" name="Card130"/>
          <p:cNvSpPr/>
          <p:nvPr/>
        </p:nvSpPr>
        <p:spPr>
          <a:xfrm>
            <a:off x="274320" y="3872880"/>
            <a:ext cx="8412480" cy="850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1" name="Head131"/>
          <p:cNvSpPr/>
          <p:nvPr/>
        </p:nvSpPr>
        <p:spPr>
          <a:xfrm>
            <a:off x="394320" y="3831439"/>
            <a:ext cx="8212480" cy="393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📌  Bottom Line</a:t>
            </a:r>
            <a:endParaRPr lang="en-US" sz="1200" dirty="0"/>
          </a:p>
        </p:txBody>
      </p:sp>
      <p:sp>
        <p:nvSpPr>
          <p:cNvPr id="132" name="Body132"/>
          <p:cNvSpPr/>
          <p:nvPr/>
        </p:nvSpPr>
        <p:spPr>
          <a:xfrm>
            <a:off x="394320" y="4142880"/>
            <a:ext cx="8212480" cy="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</a:rPr>
              <a:t>100% attack detection on real network data, trained in 13 epochs, deployable on a standard laptop — with a clear path to enterprise SIEM integration. The business case writes itself.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uture Work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Future Work — The Roadmap Ahead</a:t>
            </a:r>
            <a:endParaRPr lang="en-US" sz="1800" dirty="0"/>
          </a:p>
        </p:txBody>
      </p:sp>
      <p:sp>
        <p:nvSpPr>
          <p:cNvPr id="112" name="Card112"/>
          <p:cNvSpPr/>
          <p:nvPr/>
        </p:nvSpPr>
        <p:spPr>
          <a:xfrm>
            <a:off x="274320" y="730000"/>
            <a:ext cx="4160000" cy="8700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3" name="Head113"/>
          <p:cNvSpPr/>
          <p:nvPr/>
        </p:nvSpPr>
        <p:spPr>
          <a:xfrm>
            <a:off x="394320" y="830000"/>
            <a:ext cx="39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1.  LSTM/GRU Temporal Models</a:t>
            </a:r>
            <a:endParaRPr lang="en-US" sz="1200" dirty="0"/>
          </a:p>
        </p:txBody>
      </p:sp>
      <p:sp>
        <p:nvSpPr>
          <p:cNvPr id="114" name="Body114"/>
          <p:cNvSpPr/>
          <p:nvPr/>
        </p:nvSpPr>
        <p:spPr>
          <a:xfrm>
            <a:off x="394320" y="1260000"/>
            <a:ext cx="396000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Capture multi-step attack chains: recon → exploit → exfiltrate. Invisible at individual flow level.</a:t>
            </a:r>
            <a:endParaRPr lang="en-US" sz="900" dirty="0"/>
          </a:p>
        </p:txBody>
      </p:sp>
      <p:sp>
        <p:nvSpPr>
          <p:cNvPr id="115" name="Card115"/>
          <p:cNvSpPr/>
          <p:nvPr/>
        </p:nvSpPr>
        <p:spPr>
          <a:xfrm>
            <a:off x="4525760" y="730000"/>
            <a:ext cx="4160000" cy="87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6" name="Head116"/>
          <p:cNvSpPr/>
          <p:nvPr/>
        </p:nvSpPr>
        <p:spPr>
          <a:xfrm>
            <a:off x="4645760" y="830000"/>
            <a:ext cx="39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2.  Real Attack Dataset (CIC-IDS-2017)</a:t>
            </a:r>
            <a:endParaRPr lang="en-US" sz="1200" dirty="0"/>
          </a:p>
        </p:txBody>
      </p:sp>
      <p:sp>
        <p:nvSpPr>
          <p:cNvPr id="117" name="Body117"/>
          <p:cNvSpPr/>
          <p:nvPr/>
        </p:nvSpPr>
        <p:spPr>
          <a:xfrm>
            <a:off x="4645760" y="1260000"/>
            <a:ext cx="396000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Replace synthetic flows with labelled real attacks for production-grade model generalisability.</a:t>
            </a:r>
            <a:endParaRPr lang="en-US" sz="900" dirty="0"/>
          </a:p>
        </p:txBody>
      </p:sp>
      <p:sp>
        <p:nvSpPr>
          <p:cNvPr id="118" name="Card118"/>
          <p:cNvSpPr/>
          <p:nvPr/>
        </p:nvSpPr>
        <p:spPr>
          <a:xfrm>
            <a:off x="274320" y="1691440"/>
            <a:ext cx="4160000" cy="870000"/>
          </a:xfrm>
          <a:prstGeom prst="rect">
            <a:avLst/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9" name="Head119"/>
          <p:cNvSpPr/>
          <p:nvPr/>
        </p:nvSpPr>
        <p:spPr>
          <a:xfrm>
            <a:off x="394320" y="1791440"/>
            <a:ext cx="39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3.  SHAP / LIME Explainability</a:t>
            </a:r>
            <a:endParaRPr lang="en-US" sz="1200" dirty="0"/>
          </a:p>
        </p:txBody>
      </p:sp>
      <p:sp>
        <p:nvSpPr>
          <p:cNvPr id="120" name="Body120"/>
          <p:cNvSpPr/>
          <p:nvPr/>
        </p:nvSpPr>
        <p:spPr>
          <a:xfrm>
            <a:off x="394320" y="2221440"/>
            <a:ext cx="396000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Per-alert feature attribution. Analysts see exactly WHY a flow was flagged — critical for trust and compliance.</a:t>
            </a:r>
            <a:endParaRPr lang="en-US" sz="900" dirty="0"/>
          </a:p>
        </p:txBody>
      </p:sp>
      <p:sp>
        <p:nvSpPr>
          <p:cNvPr id="121" name="Card121"/>
          <p:cNvSpPr/>
          <p:nvPr/>
        </p:nvSpPr>
        <p:spPr>
          <a:xfrm>
            <a:off x="4525760" y="1691440"/>
            <a:ext cx="4160000" cy="8700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B2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2" name="Head122"/>
          <p:cNvSpPr/>
          <p:nvPr/>
        </p:nvSpPr>
        <p:spPr>
          <a:xfrm>
            <a:off x="4645760" y="1791440"/>
            <a:ext cx="39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4.  SIEM Integration</a:t>
            </a:r>
            <a:endParaRPr lang="en-US" sz="1200" dirty="0"/>
          </a:p>
        </p:txBody>
      </p:sp>
      <p:sp>
        <p:nvSpPr>
          <p:cNvPr id="123" name="Body123"/>
          <p:cNvSpPr/>
          <p:nvPr/>
        </p:nvSpPr>
        <p:spPr>
          <a:xfrm>
            <a:off x="4645760" y="2221440"/>
            <a:ext cx="396000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Feed confidence scores and reconstruction errors into Splunk, QRadar, or ELK for correlated alerting.</a:t>
            </a:r>
            <a:endParaRPr lang="en-US" sz="900" dirty="0"/>
          </a:p>
        </p:txBody>
      </p:sp>
      <p:sp>
        <p:nvSpPr>
          <p:cNvPr id="124" name="Card124"/>
          <p:cNvSpPr/>
          <p:nvPr/>
        </p:nvSpPr>
        <p:spPr>
          <a:xfrm>
            <a:off x="274320" y="2652880"/>
            <a:ext cx="4160000" cy="87000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5" name="Head125"/>
          <p:cNvSpPr/>
          <p:nvPr/>
        </p:nvSpPr>
        <p:spPr>
          <a:xfrm>
            <a:off x="394320" y="2752880"/>
            <a:ext cx="39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5.  Federated Learning</a:t>
            </a:r>
            <a:endParaRPr lang="en-US" sz="1200" dirty="0"/>
          </a:p>
        </p:txBody>
      </p:sp>
      <p:sp>
        <p:nvSpPr>
          <p:cNvPr id="126" name="Body126"/>
          <p:cNvSpPr/>
          <p:nvPr/>
        </p:nvSpPr>
        <p:spPr>
          <a:xfrm>
            <a:off x="394320" y="3182880"/>
            <a:ext cx="396000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Train across multiple organisations without sharing raw traffic. Better generalisability. Full data sovereignty.</a:t>
            </a:r>
            <a:endParaRPr lang="en-US" sz="900" dirty="0"/>
          </a:p>
        </p:txBody>
      </p:sp>
      <p:sp>
        <p:nvSpPr>
          <p:cNvPr id="127" name="Card127"/>
          <p:cNvSpPr/>
          <p:nvPr/>
        </p:nvSpPr>
        <p:spPr>
          <a:xfrm>
            <a:off x="4525760" y="2652880"/>
            <a:ext cx="4160000" cy="8700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8" name="Head128"/>
          <p:cNvSpPr/>
          <p:nvPr/>
        </p:nvSpPr>
        <p:spPr>
          <a:xfrm>
            <a:off x="4645760" y="2752880"/>
            <a:ext cx="39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</a:rPr>
              <a:t>6.  Online / Continuous Learning</a:t>
            </a:r>
            <a:endParaRPr lang="en-US" sz="1200" dirty="0"/>
          </a:p>
        </p:txBody>
      </p:sp>
      <p:sp>
        <p:nvSpPr>
          <p:cNvPr id="129" name="Body129"/>
          <p:cNvSpPr/>
          <p:nvPr/>
        </p:nvSpPr>
        <p:spPr>
          <a:xfrm>
            <a:off x="4645760" y="3182880"/>
            <a:ext cx="3960000" cy="2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</a:rPr>
              <a:t>Adapt to concept drift automatically. Model retrains on new benign traffic monthly, keeping threshold current.</a:t>
            </a:r>
            <a:endParaRPr lang="en-US" sz="900" dirty="0"/>
          </a:p>
        </p:txBody>
      </p:sp>
      <p:sp>
        <p:nvSpPr>
          <p:cNvPr id="130" name="Card130"/>
          <p:cNvSpPr/>
          <p:nvPr/>
        </p:nvSpPr>
        <p:spPr>
          <a:xfrm>
            <a:off x="274320" y="3614320"/>
            <a:ext cx="8411440" cy="800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1" name="Head131"/>
          <p:cNvSpPr/>
          <p:nvPr/>
        </p:nvSpPr>
        <p:spPr>
          <a:xfrm>
            <a:off x="394320" y="3714320"/>
            <a:ext cx="821144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🎯  This project is a production-ready foundation</a:t>
            </a:r>
            <a:endParaRPr lang="en-US" sz="1200" dirty="0"/>
          </a:p>
        </p:txBody>
      </p:sp>
      <p:sp>
        <p:nvSpPr>
          <p:cNvPr id="132" name="Body132"/>
          <p:cNvSpPr/>
          <p:nvPr/>
        </p:nvSpPr>
        <p:spPr>
          <a:xfrm>
            <a:off x="394320" y="4144320"/>
            <a:ext cx="821144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</a:rPr>
              <a:t>Every future enhancement listed above builds directly on W12-IDS-001. The hardest part — a working end-to-end pipeline on real data — is already done.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1918</Words>
  <Application>Microsoft Office PowerPoint</Application>
  <PresentationFormat>On-screen Show (16:9)</PresentationFormat>
  <Paragraphs>274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Final Project Presentation</dc:title>
  <dc:subject>PptxGenJS Presentation</dc:subject>
  <dc:creator>PptxGenJS</dc:creator>
  <cp:lastModifiedBy>Tinashe Chibamu</cp:lastModifiedBy>
  <cp:revision>3</cp:revision>
  <dcterms:created xsi:type="dcterms:W3CDTF">2026-05-17T07:35:57Z</dcterms:created>
  <dcterms:modified xsi:type="dcterms:W3CDTF">2026-06-17T10:53:49Z</dcterms:modified>
</cp:coreProperties>
</file>